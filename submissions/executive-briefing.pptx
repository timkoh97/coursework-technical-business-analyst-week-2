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4"/>
    <p:sldMasterId id="214748370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Figtree"/>
      <p:regular r:id="rId15"/>
      <p:bold r:id="rId16"/>
      <p:italic r:id="rId17"/>
      <p:boldItalic r:id="rId18"/>
    </p:embeddedFont>
    <p:embeddedFont>
      <p:font typeface="Jost Light"/>
      <p:regular r:id="rId19"/>
      <p:bold r:id="rId20"/>
      <p:italic r:id="rId21"/>
      <p:boldItalic r:id="rId22"/>
    </p:embeddedFont>
    <p:embeddedFont>
      <p:font typeface="Figtree Medium"/>
      <p:regular r:id="rId23"/>
      <p:bold r:id="rId24"/>
      <p:italic r:id="rId25"/>
      <p:boldItalic r:id="rId26"/>
    </p:embeddedFont>
    <p:embeddedFont>
      <p:font typeface="Figtree ExtraBold"/>
      <p:bold r:id="rId27"/>
      <p:boldItalic r:id="rId28"/>
    </p:embeddedFont>
    <p:embeddedFont>
      <p:font typeface="Figtree Light"/>
      <p:regular r:id="rId29"/>
      <p:bold r:id="rId30"/>
      <p:italic r:id="rId31"/>
      <p:boldItalic r:id="rId32"/>
    </p:embeddedFont>
    <p:embeddedFont>
      <p:font typeface="Jos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tLight-bold.fntdata"/><Relationship Id="rId22" Type="http://schemas.openxmlformats.org/officeDocument/2006/relationships/font" Target="fonts/JostLight-boldItalic.fntdata"/><Relationship Id="rId21" Type="http://schemas.openxmlformats.org/officeDocument/2006/relationships/font" Target="fonts/JostLight-italic.fntdata"/><Relationship Id="rId24" Type="http://schemas.openxmlformats.org/officeDocument/2006/relationships/font" Target="fonts/FigtreeMedium-bold.fntdata"/><Relationship Id="rId23" Type="http://schemas.openxmlformats.org/officeDocument/2006/relationships/font" Target="fonts/Figtree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igtreeMedium-boldItalic.fntdata"/><Relationship Id="rId25" Type="http://schemas.openxmlformats.org/officeDocument/2006/relationships/font" Target="fonts/FigtreeMedium-italic.fntdata"/><Relationship Id="rId28" Type="http://schemas.openxmlformats.org/officeDocument/2006/relationships/font" Target="fonts/FigtreeExtraBold-boldItalic.fntdata"/><Relationship Id="rId27" Type="http://schemas.openxmlformats.org/officeDocument/2006/relationships/font" Target="fonts/FigtreeExtraBo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igtree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gtreeLight-italic.fntdata"/><Relationship Id="rId30" Type="http://schemas.openxmlformats.org/officeDocument/2006/relationships/font" Target="fonts/FigtreeLight-bold.fntdata"/><Relationship Id="rId11" Type="http://schemas.openxmlformats.org/officeDocument/2006/relationships/slide" Target="slides/slide5.xml"/><Relationship Id="rId33" Type="http://schemas.openxmlformats.org/officeDocument/2006/relationships/font" Target="fonts/Jost-regular.fntdata"/><Relationship Id="rId10" Type="http://schemas.openxmlformats.org/officeDocument/2006/relationships/slide" Target="slides/slide4.xml"/><Relationship Id="rId32" Type="http://schemas.openxmlformats.org/officeDocument/2006/relationships/font" Target="fonts/FigtreeLight-boldItalic.fntdata"/><Relationship Id="rId13" Type="http://schemas.openxmlformats.org/officeDocument/2006/relationships/slide" Target="slides/slide7.xml"/><Relationship Id="rId35" Type="http://schemas.openxmlformats.org/officeDocument/2006/relationships/font" Target="fonts/Jost-italic.fntdata"/><Relationship Id="rId12" Type="http://schemas.openxmlformats.org/officeDocument/2006/relationships/slide" Target="slides/slide6.xml"/><Relationship Id="rId34" Type="http://schemas.openxmlformats.org/officeDocument/2006/relationships/font" Target="fonts/Jost-bold.fntdata"/><Relationship Id="rId15" Type="http://schemas.openxmlformats.org/officeDocument/2006/relationships/font" Target="fonts/Figtree-regular.fntdata"/><Relationship Id="rId14" Type="http://schemas.openxmlformats.org/officeDocument/2006/relationships/slide" Target="slides/slide8.xml"/><Relationship Id="rId36" Type="http://schemas.openxmlformats.org/officeDocument/2006/relationships/font" Target="fonts/Jost-boldItalic.fntdata"/><Relationship Id="rId17" Type="http://schemas.openxmlformats.org/officeDocument/2006/relationships/font" Target="fonts/Figtree-italic.fntdata"/><Relationship Id="rId16" Type="http://schemas.openxmlformats.org/officeDocument/2006/relationships/font" Target="fonts/Figtree-bold.fntdata"/><Relationship Id="rId19" Type="http://schemas.openxmlformats.org/officeDocument/2006/relationships/font" Target="fonts/JostLight-regular.fntdata"/><Relationship Id="rId18" Type="http://schemas.openxmlformats.org/officeDocument/2006/relationships/font" Target="fonts/Figtree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6f13ef8a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d6f13ef8a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6f13ef8a2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d6f13ef8a2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d6f13ef8a2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d6f13ef8a2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6f13ef8a2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d6f13ef8a2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d6f13ef8a2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d6f13ef8a2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6f13ef8a2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d6f13ef8a2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6f13ef8a2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d6f13ef8a2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d6f13ef8a2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d6f13ef8a2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7" name="Google Shape;77;p15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6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6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86" name="Google Shape;86;p16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89" name="Google Shape;89;p16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09" name="Google Shape;109;p17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0" name="Google Shape;110;p17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1" name="Google Shape;111;p17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2" name="Google Shape;112;p17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3" name="Google Shape;113;p17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114" name="Google Shape;114;p17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123" name="Google Shape;123;p19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5" name="Google Shape;125;p19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8" name="Google Shape;128;p20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34" name="Google Shape;134;p20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35" name="Google Shape;135;p20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8" name="Google Shape;138;p21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9" name="Google Shape;139;p21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1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" name="Google Shape;141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45" name="Google Shape;145;p21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" name="Google Shape;148;p22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4" name="Google Shape;154;p22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3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8" name="Google Shape;168;p24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9" name="Google Shape;169;p24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0" name="Google Shape;170;p24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1" name="Google Shape;171;p24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2" name="Google Shape;172;p24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3" name="Google Shape;173;p24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4" name="Google Shape;174;p24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5" name="Google Shape;175;p24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8" name="Google Shape;178;p25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0" name="Google Shape;180;p25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1" name="Google Shape;181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25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3" name="Google Shape;183;p25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5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6" name="Google Shape;186;p25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25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9" name="Google Shape;189;p25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5" name="Google Shape;195;p26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96" name="Google Shape;196;p26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99" name="Google Shape;199;p2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1" name="Google Shape;201;p27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2" name="Google Shape;202;p27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3" name="Google Shape;203;p27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27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27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7" name="Google Shape;207;p27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8" name="Google Shape;208;p27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0" name="Google Shape;210;p27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1" name="Google Shape;211;p27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2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6" name="Google Shape;216;p2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8" name="Google Shape;218;p28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9" name="Google Shape;219;p28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20" name="Google Shape;220;p28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21" name="Google Shape;221;p28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5" name="Google Shape;225;p2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26" name="Google Shape;226;p2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27" name="Google Shape;227;p29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9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9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2" name="Google Shape;232;p29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3" name="Google Shape;233;p29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4" name="Google Shape;234;p29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5" name="Google Shape;235;p29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6" name="Google Shape;236;p29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37" name="Google Shape;237;p29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8" name="Google Shape;238;p29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2" name="Google Shape;242;p3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3" name="Google Shape;243;p30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5" name="Google Shape;245;p30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6" name="Google Shape;246;p30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7" name="Google Shape;247;p30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8" name="Google Shape;248;p30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9" name="Google Shape;249;p30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50" name="Google Shape;250;p30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1" name="Google Shape;251;p30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3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3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31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7" name="Google Shape;257;p31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31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9" name="Google Shape;259;p31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60" name="Google Shape;260;p31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31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2" name="Google Shape;262;p31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31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4" name="Google Shape;264;p31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5" name="Google Shape;265;p31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68" name="Google Shape;268;p32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69" name="Google Shape;269;p32"/>
          <p:cNvPicPr preferRelativeResize="0"/>
          <p:nvPr/>
        </p:nvPicPr>
        <p:blipFill rotWithShape="1">
          <a:blip r:embed="rId2">
            <a:alphaModFix/>
          </a:blip>
          <a:srcRect b="14407" l="0" r="0" t="14414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2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1" name="Google Shape;271;p32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2" name="Google Shape;272;p32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3" name="Google Shape;273;p32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4" name="Google Shape;274;p32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75" name="Google Shape;275;p32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6" name="Google Shape;276;p32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7" name="Google Shape;277;p32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8" name="Google Shape;278;p32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79" name="Google Shape;279;p32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80" name="Google Shape;280;p32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81" name="Google Shape;281;p32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82" name="Google Shape;282;p3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83" name="Google Shape;283;p32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84" name="Google Shape;284;p32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7" name="Google Shape;287;p33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8" name="Google Shape;288;p3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89" name="Google Shape;289;p3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0" name="Google Shape;290;p3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1" name="Google Shape;291;p33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2" name="Google Shape;292;p33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93" name="Google Shape;293;p33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4" name="Google Shape;294;p33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95" name="Google Shape;295;p33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33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9" name="Google Shape;299;p3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0" name="Google Shape;300;p3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1" name="Google Shape;301;p3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2" name="Google Shape;302;p34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303" name="Google Shape;303;p34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4" name="Google Shape;304;p34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5" name="Google Shape;305;p34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6" name="Google Shape;306;p34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7" name="Google Shape;307;p34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8" name="Google Shape;308;p34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09" name="Google Shape;309;p34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310" name="Google Shape;310;p34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1" name="Google Shape;311;p34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2" name="Google Shape;312;p34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3" name="Google Shape;313;p34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4" name="Google Shape;314;p34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5" name="Google Shape;315;p34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34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19" name="Google Shape;319;p3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20" name="Google Shape;320;p3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1" name="Google Shape;321;p3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35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3" name="Google Shape;323;p35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4" name="Google Shape;324;p35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6" name="Google Shape;326;p35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7" name="Google Shape;327;p35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8" name="Google Shape;328;p35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9" name="Google Shape;329;p35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0" name="Google Shape;330;p35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1" name="Google Shape;331;p35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2" name="Google Shape;332;p35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33" name="Google Shape;333;p35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6" name="Google Shape;336;p3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7" name="Google Shape;337;p3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9" name="Google Shape;339;p36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0" name="Google Shape;340;p36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1" name="Google Shape;341;p36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2" name="Google Shape;342;p36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43" name="Google Shape;343;p36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4" name="Google Shape;344;p36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6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46" name="Google Shape;346;p36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7" name="Google Shape;347;p36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8" name="Google Shape;348;p36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51" name="Google Shape;351;p3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52" name="Google Shape;352;p3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53" name="Google Shape;353;p37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4" name="Google Shape;354;p37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55" name="Google Shape;355;p37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6" name="Google Shape;356;p37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7" name="Google Shape;357;p37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8" name="Google Shape;358;p37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59" name="Google Shape;359;p37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0" name="Google Shape;360;p37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1" name="Google Shape;361;p37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2" name="Google Shape;362;p37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3" name="Google Shape;363;p37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4" name="Google Shape;364;p37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69" name="Google Shape;369;p37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70" name="Google Shape;370;p37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3" name="Google Shape;373;p38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4" name="Google Shape;374;p3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75" name="Google Shape;375;p3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76" name="Google Shape;376;p38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7" name="Google Shape;377;p38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8" name="Google Shape;378;p38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5" name="Google Shape;395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0" name="Google Shape;400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1" name="Google Shape;401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6" name="Google Shape;406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5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5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5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5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9" name="Google Shape;419;p5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2" name="Google Shape;422;p5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5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5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5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5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9" name="Google Shape;42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0" name="Google Shape;430;p5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5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5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5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5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5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9" name="Google Shape;439;p5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5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2" name="Google Shape;45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5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4" name="Google Shape;454;p5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7" name="Google Shape;457;p5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0" name="Google Shape;460;p5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2" name="Google Shape;46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5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5" name="Google Shape;465;p5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5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0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LEGACY-TRUST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A Smart Recovery Portal</a:t>
            </a:r>
            <a:endParaRPr sz="5800"/>
          </a:p>
        </p:txBody>
      </p:sp>
      <p:sp>
        <p:nvSpPr>
          <p:cNvPr id="484" name="Google Shape;484;p60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RECOMMENDATION - FOR EXECUTIVES’ EYES ONLY</a:t>
            </a:r>
            <a:endParaRPr/>
          </a:p>
        </p:txBody>
      </p:sp>
      <p:sp>
        <p:nvSpPr>
          <p:cNvPr id="485" name="Google Shape;485;p60"/>
          <p:cNvSpPr txBox="1"/>
          <p:nvPr>
            <p:ph idx="1" type="subTitle"/>
          </p:nvPr>
        </p:nvSpPr>
        <p:spPr>
          <a:xfrm>
            <a:off x="228225" y="1298200"/>
            <a:ext cx="271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 Koh</a:t>
            </a:r>
            <a:endParaRPr/>
          </a:p>
        </p:txBody>
      </p:sp>
      <p:sp>
        <p:nvSpPr>
          <p:cNvPr id="486" name="Google Shape;486;p60"/>
          <p:cNvSpPr txBox="1"/>
          <p:nvPr>
            <p:ph idx="2" type="subTitle"/>
          </p:nvPr>
        </p:nvSpPr>
        <p:spPr>
          <a:xfrm>
            <a:off x="228225" y="1079450"/>
            <a:ext cx="271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17.04.26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</a:t>
            </a:r>
            <a:endParaRPr/>
          </a:p>
        </p:txBody>
      </p:sp>
      <p:sp>
        <p:nvSpPr>
          <p:cNvPr id="492" name="Google Shape;492;p6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LEGACY-TRUST</a:t>
            </a:r>
            <a:endParaRPr/>
          </a:p>
        </p:txBody>
      </p:sp>
      <p:sp>
        <p:nvSpPr>
          <p:cNvPr id="493" name="Google Shape;493;p61"/>
          <p:cNvSpPr txBox="1"/>
          <p:nvPr>
            <p:ph idx="1" type="subTitle"/>
          </p:nvPr>
        </p:nvSpPr>
        <p:spPr>
          <a:xfrm>
            <a:off x="230075" y="6193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SHOULD WE DO?</a:t>
            </a:r>
            <a:endParaRPr/>
          </a:p>
        </p:txBody>
      </p:sp>
      <p:sp>
        <p:nvSpPr>
          <p:cNvPr id="494" name="Google Shape;494;p61"/>
          <p:cNvSpPr txBox="1"/>
          <p:nvPr>
            <p:ph idx="3" type="title"/>
          </p:nvPr>
        </p:nvSpPr>
        <p:spPr>
          <a:xfrm>
            <a:off x="228600" y="1047749"/>
            <a:ext cx="8463000" cy="38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</a:t>
            </a:r>
            <a:r>
              <a:rPr lang="en" sz="3000"/>
              <a:t> recommend we build a </a:t>
            </a:r>
            <a:r>
              <a:rPr lang="en" sz="3000" u="sng">
                <a:latin typeface="Figtree ExtraBold"/>
                <a:ea typeface="Figtree ExtraBold"/>
                <a:cs typeface="Figtree ExtraBold"/>
                <a:sym typeface="Figtree ExtraBold"/>
              </a:rPr>
              <a:t>web portal</a:t>
            </a:r>
            <a:r>
              <a:rPr lang="en" sz="3000"/>
              <a:t> to: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 sz="3000"/>
              <a:t>G</a:t>
            </a:r>
            <a:r>
              <a:rPr lang="en" sz="3000"/>
              <a:t>ive customers self</a:t>
            </a:r>
            <a:r>
              <a:rPr lang="en" sz="3000"/>
              <a:t>-</a:t>
            </a:r>
            <a:r>
              <a:rPr lang="en" sz="3000"/>
              <a:t>service abilities to repay debt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 sz="3000"/>
              <a:t>Gi</a:t>
            </a:r>
            <a:r>
              <a:rPr lang="en" sz="3000"/>
              <a:t>ve agents full customers histories to serve customers more quickly and with greater skill</a:t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 sz="3000"/>
              <a:t>Give managers precise visibility on accounts to see revenue gain opportunities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2"/>
          <p:cNvSpPr/>
          <p:nvPr/>
        </p:nvSpPr>
        <p:spPr>
          <a:xfrm>
            <a:off x="228738" y="3651192"/>
            <a:ext cx="8686500" cy="887400"/>
          </a:xfrm>
          <a:prstGeom prst="roundRect">
            <a:avLst>
              <a:gd fmla="val 7911" name="adj"/>
            </a:avLst>
          </a:prstGeom>
          <a:solidFill>
            <a:schemeClr val="lt1"/>
          </a:solidFill>
          <a:ln>
            <a:noFill/>
          </a:ln>
          <a:effectLst>
            <a:outerShdw blurRad="185738" rotWithShape="0" algn="bl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00" name="Google Shape;500;p62"/>
          <p:cNvSpPr/>
          <p:nvPr/>
        </p:nvSpPr>
        <p:spPr>
          <a:xfrm>
            <a:off x="228750" y="1142175"/>
            <a:ext cx="8686500" cy="887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  <a:effectLst>
            <a:outerShdw blurRad="185738" rotWithShape="0" algn="bl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01" name="Google Shape;501;p6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REASONS</a:t>
            </a:r>
            <a:endParaRPr/>
          </a:p>
        </p:txBody>
      </p:sp>
      <p:sp>
        <p:nvSpPr>
          <p:cNvPr id="502" name="Google Shape;502;p6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LEGACY-TRUST</a:t>
            </a:r>
            <a:endParaRPr/>
          </a:p>
        </p:txBody>
      </p:sp>
      <p:sp>
        <p:nvSpPr>
          <p:cNvPr id="503" name="Google Shape;503;p62"/>
          <p:cNvSpPr txBox="1"/>
          <p:nvPr>
            <p:ph idx="5" type="body"/>
          </p:nvPr>
        </p:nvSpPr>
        <p:spPr>
          <a:xfrm>
            <a:off x="4637600" y="38703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Our systems are old, unconsolidated and opaque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and pose a massive risk for </a:t>
            </a:r>
            <a:r>
              <a:rPr lang="en" sz="1400" u="sng"/>
              <a:t>audit compliance</a:t>
            </a:r>
            <a:r>
              <a:rPr lang="en" sz="1400"/>
              <a:t>, not to mention to our </a:t>
            </a:r>
            <a:r>
              <a:rPr lang="en" sz="1400" u="sng"/>
              <a:t>revenue figures</a:t>
            </a:r>
            <a:endParaRPr sz="1400" u="sng"/>
          </a:p>
        </p:txBody>
      </p:sp>
      <p:sp>
        <p:nvSpPr>
          <p:cNvPr id="504" name="Google Shape;504;p62"/>
          <p:cNvSpPr txBox="1"/>
          <p:nvPr>
            <p:ph idx="6" type="subTitle"/>
          </p:nvPr>
        </p:nvSpPr>
        <p:spPr>
          <a:xfrm>
            <a:off x="1603898" y="38869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600"/>
              <a:t>Data obscurity</a:t>
            </a:r>
            <a:endParaRPr sz="1600"/>
          </a:p>
        </p:txBody>
      </p:sp>
      <p:sp>
        <p:nvSpPr>
          <p:cNvPr id="505" name="Google Shape;505;p62"/>
          <p:cNvSpPr txBox="1"/>
          <p:nvPr>
            <p:ph idx="7" type="subTitle"/>
          </p:nvPr>
        </p:nvSpPr>
        <p:spPr>
          <a:xfrm>
            <a:off x="330825" y="37333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6" name="Google Shape;506;p62"/>
          <p:cNvSpPr txBox="1"/>
          <p:nvPr>
            <p:ph idx="8" type="body"/>
          </p:nvPr>
        </p:nvSpPr>
        <p:spPr>
          <a:xfrm>
            <a:off x="4637600" y="2615847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Over the years, many manual workarounds to a poor system have evolved and agents are </a:t>
            </a:r>
            <a:r>
              <a:rPr lang="en" sz="1400"/>
              <a:t>frustrated, slowed down and often spending hours validating the data they should be able to trust</a:t>
            </a:r>
            <a:endParaRPr sz="1400"/>
          </a:p>
        </p:txBody>
      </p:sp>
      <p:sp>
        <p:nvSpPr>
          <p:cNvPr id="507" name="Google Shape;507;p62"/>
          <p:cNvSpPr txBox="1"/>
          <p:nvPr>
            <p:ph idx="9" type="subTitle"/>
          </p:nvPr>
        </p:nvSpPr>
        <p:spPr>
          <a:xfrm>
            <a:off x="1603898" y="2632470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600"/>
              <a:t>Agent overload</a:t>
            </a:r>
            <a:endParaRPr sz="1600"/>
          </a:p>
        </p:txBody>
      </p:sp>
      <p:sp>
        <p:nvSpPr>
          <p:cNvPr id="508" name="Google Shape;508;p62"/>
          <p:cNvSpPr txBox="1"/>
          <p:nvPr>
            <p:ph idx="13" type="subTitle"/>
          </p:nvPr>
        </p:nvSpPr>
        <p:spPr>
          <a:xfrm>
            <a:off x="330825" y="2478899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9" name="Google Shape;509;p62"/>
          <p:cNvSpPr txBox="1"/>
          <p:nvPr>
            <p:ph idx="14" type="body"/>
          </p:nvPr>
        </p:nvSpPr>
        <p:spPr>
          <a:xfrm>
            <a:off x="4637600" y="1361325"/>
            <a:ext cx="40896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Today, approx. </a:t>
            </a:r>
            <a:r>
              <a:rPr lang="en" sz="1400" u="sng"/>
              <a:t>15% of </a:t>
            </a:r>
            <a:r>
              <a:rPr lang="en" sz="1400" u="sng"/>
              <a:t>revenue</a:t>
            </a:r>
            <a:r>
              <a:rPr lang="en" sz="1400" u="sng"/>
              <a:t> is lost</a:t>
            </a:r>
            <a:r>
              <a:rPr lang="en" sz="1400"/>
              <a:t> from missed or delayed follow-ups, according to finance estimates</a:t>
            </a:r>
            <a:endParaRPr sz="1400"/>
          </a:p>
        </p:txBody>
      </p:sp>
      <p:sp>
        <p:nvSpPr>
          <p:cNvPr id="510" name="Google Shape;510;p62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Revenue Leakage</a:t>
            </a:r>
            <a:endParaRPr sz="1600"/>
          </a:p>
        </p:txBody>
      </p:sp>
      <p:sp>
        <p:nvSpPr>
          <p:cNvPr id="511" name="Google Shape;511;p62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12" name="Google Shape;512;p62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SHOULD WE DO IT?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3"/>
          <p:cNvSpPr/>
          <p:nvPr/>
        </p:nvSpPr>
        <p:spPr>
          <a:xfrm>
            <a:off x="803225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18" name="Google Shape;518;p63"/>
          <p:cNvSpPr/>
          <p:nvPr/>
        </p:nvSpPr>
        <p:spPr>
          <a:xfrm>
            <a:off x="3238050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19" name="Google Shape;519;p63"/>
          <p:cNvSpPr/>
          <p:nvPr/>
        </p:nvSpPr>
        <p:spPr>
          <a:xfrm>
            <a:off x="5672875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cxnSp>
        <p:nvCxnSpPr>
          <p:cNvPr id="520" name="Google Shape;520;p63"/>
          <p:cNvCxnSpPr>
            <a:stCxn id="517" idx="1"/>
          </p:cNvCxnSpPr>
          <p:nvPr/>
        </p:nvCxnSpPr>
        <p:spPr>
          <a:xfrm rot="10800000">
            <a:off x="125" y="2571750"/>
            <a:ext cx="8031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63"/>
          <p:cNvCxnSpPr>
            <a:stCxn id="519" idx="3"/>
          </p:cNvCxnSpPr>
          <p:nvPr/>
        </p:nvCxnSpPr>
        <p:spPr>
          <a:xfrm>
            <a:off x="8340775" y="2571750"/>
            <a:ext cx="8031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2" name="Google Shape;522;p6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LEAKAGE</a:t>
            </a:r>
            <a:endParaRPr/>
          </a:p>
        </p:txBody>
      </p:sp>
      <p:sp>
        <p:nvSpPr>
          <p:cNvPr id="523" name="Google Shape;523;p6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</a:t>
            </a:r>
            <a:endParaRPr/>
          </a:p>
        </p:txBody>
      </p:sp>
      <p:sp>
        <p:nvSpPr>
          <p:cNvPr id="524" name="Google Shape;524;p6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LEGACY-TRUST</a:t>
            </a:r>
            <a:endParaRPr/>
          </a:p>
        </p:txBody>
      </p:sp>
      <p:sp>
        <p:nvSpPr>
          <p:cNvPr id="525" name="Google Shape;525;p63"/>
          <p:cNvSpPr txBox="1"/>
          <p:nvPr/>
        </p:nvSpPr>
        <p:spPr>
          <a:xfrm>
            <a:off x="6365425" y="2712256"/>
            <a:ext cx="1282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15%</a:t>
            </a:r>
            <a:endParaRPr sz="3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26" name="Google Shape;526;p63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Wasted agent time</a:t>
            </a:r>
            <a:endParaRPr/>
          </a:p>
        </p:txBody>
      </p:sp>
      <p:sp>
        <p:nvSpPr>
          <p:cNvPr id="527" name="Google Shape;527;p63"/>
          <p:cNvSpPr txBox="1"/>
          <p:nvPr>
            <p:ph idx="4" type="subTitle"/>
          </p:nvPr>
        </p:nvSpPr>
        <p:spPr>
          <a:xfrm>
            <a:off x="400965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$00</a:t>
            </a:r>
            <a:endParaRPr/>
          </a:p>
        </p:txBody>
      </p:sp>
      <p:sp>
        <p:nvSpPr>
          <p:cNvPr id="528" name="Google Shape;528;p63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note on the results</a:t>
            </a:r>
            <a:endParaRPr/>
          </a:p>
        </p:txBody>
      </p:sp>
      <p:sp>
        <p:nvSpPr>
          <p:cNvPr id="529" name="Google Shape;529;p63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Lack of auto-notifs</a:t>
            </a:r>
            <a:endParaRPr/>
          </a:p>
        </p:txBody>
      </p:sp>
      <p:sp>
        <p:nvSpPr>
          <p:cNvPr id="530" name="Google Shape;530;p63"/>
          <p:cNvSpPr txBox="1"/>
          <p:nvPr>
            <p:ph idx="7" type="subTitle"/>
          </p:nvPr>
        </p:nvSpPr>
        <p:spPr>
          <a:xfrm>
            <a:off x="1574825" y="29279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531" name="Google Shape;531;p63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Customers are inconsistently followed-up, and payment promises can go unchecked for weeks</a:t>
            </a:r>
            <a:endParaRPr/>
          </a:p>
        </p:txBody>
      </p:sp>
      <p:sp>
        <p:nvSpPr>
          <p:cNvPr id="532" name="Google Shape;532;p63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</a:t>
            </a:r>
            <a:endParaRPr/>
          </a:p>
        </p:txBody>
      </p:sp>
      <p:sp>
        <p:nvSpPr>
          <p:cNvPr id="533" name="Google Shape;533;p63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Finance teams estimate </a:t>
            </a:r>
            <a:endParaRPr/>
          </a:p>
        </p:txBody>
      </p:sp>
      <p:sp>
        <p:nvSpPr>
          <p:cNvPr id="534" name="Google Shape;534;p63"/>
          <p:cNvSpPr txBox="1"/>
          <p:nvPr>
            <p:ph idx="14" type="subTitle"/>
          </p:nvPr>
        </p:nvSpPr>
        <p:spPr>
          <a:xfrm>
            <a:off x="5892775" y="3071250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is lost to delays 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missed follow-ups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4"/>
          <p:cNvSpPr/>
          <p:nvPr/>
        </p:nvSpPr>
        <p:spPr>
          <a:xfrm>
            <a:off x="803225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40" name="Google Shape;540;p64"/>
          <p:cNvSpPr/>
          <p:nvPr/>
        </p:nvSpPr>
        <p:spPr>
          <a:xfrm>
            <a:off x="3238050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41" name="Google Shape;541;p64"/>
          <p:cNvSpPr/>
          <p:nvPr/>
        </p:nvSpPr>
        <p:spPr>
          <a:xfrm>
            <a:off x="5672875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cxnSp>
        <p:nvCxnSpPr>
          <p:cNvPr id="542" name="Google Shape;542;p64"/>
          <p:cNvCxnSpPr>
            <a:stCxn id="539" idx="1"/>
          </p:cNvCxnSpPr>
          <p:nvPr/>
        </p:nvCxnSpPr>
        <p:spPr>
          <a:xfrm rot="10800000">
            <a:off x="125" y="2571750"/>
            <a:ext cx="8031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64"/>
          <p:cNvCxnSpPr>
            <a:stCxn id="541" idx="3"/>
          </p:cNvCxnSpPr>
          <p:nvPr/>
        </p:nvCxnSpPr>
        <p:spPr>
          <a:xfrm>
            <a:off x="8340775" y="2571750"/>
            <a:ext cx="8031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44" name="Google Shape;544;p6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OVERLOAD</a:t>
            </a:r>
            <a:endParaRPr/>
          </a:p>
        </p:txBody>
      </p:sp>
      <p:sp>
        <p:nvSpPr>
          <p:cNvPr id="545" name="Google Shape;545;p6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</a:t>
            </a:r>
            <a:endParaRPr/>
          </a:p>
        </p:txBody>
      </p:sp>
      <p:sp>
        <p:nvSpPr>
          <p:cNvPr id="546" name="Google Shape;546;p6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LEGACY-TRUST</a:t>
            </a:r>
            <a:endParaRPr/>
          </a:p>
        </p:txBody>
      </p:sp>
      <p:sp>
        <p:nvSpPr>
          <p:cNvPr id="547" name="Google Shape;547;p64"/>
          <p:cNvSpPr txBox="1"/>
          <p:nvPr/>
        </p:nvSpPr>
        <p:spPr>
          <a:xfrm>
            <a:off x="6365425" y="2712256"/>
            <a:ext cx="1282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00K</a:t>
            </a:r>
            <a:endParaRPr sz="3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48" name="Google Shape;548;p6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investment</a:t>
            </a:r>
            <a:endParaRPr/>
          </a:p>
        </p:txBody>
      </p:sp>
      <p:sp>
        <p:nvSpPr>
          <p:cNvPr id="549" name="Google Shape;549;p64"/>
          <p:cNvSpPr txBox="1"/>
          <p:nvPr>
            <p:ph idx="4" type="subTitle"/>
          </p:nvPr>
        </p:nvSpPr>
        <p:spPr>
          <a:xfrm>
            <a:off x="400965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$00</a:t>
            </a:r>
            <a:endParaRPr/>
          </a:p>
        </p:txBody>
      </p:sp>
      <p:sp>
        <p:nvSpPr>
          <p:cNvPr id="550" name="Google Shape;550;p6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note on the results</a:t>
            </a:r>
            <a:endParaRPr/>
          </a:p>
        </p:txBody>
      </p:sp>
      <p:sp>
        <p:nvSpPr>
          <p:cNvPr id="551" name="Google Shape;551;p6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growth</a:t>
            </a:r>
            <a:endParaRPr/>
          </a:p>
        </p:txBody>
      </p:sp>
      <p:sp>
        <p:nvSpPr>
          <p:cNvPr id="552" name="Google Shape;552;p64"/>
          <p:cNvSpPr txBox="1"/>
          <p:nvPr>
            <p:ph idx="7" type="subTitle"/>
          </p:nvPr>
        </p:nvSpPr>
        <p:spPr>
          <a:xfrm>
            <a:off x="157482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553" name="Google Shape;553;p6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note on the results</a:t>
            </a:r>
            <a:endParaRPr/>
          </a:p>
        </p:txBody>
      </p:sp>
      <p:sp>
        <p:nvSpPr>
          <p:cNvPr id="554" name="Google Shape;554;p6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</a:t>
            </a:r>
            <a:endParaRPr/>
          </a:p>
        </p:txBody>
      </p:sp>
      <p:sp>
        <p:nvSpPr>
          <p:cNvPr id="555" name="Google Shape;555;p6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note on the results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5"/>
          <p:cNvSpPr/>
          <p:nvPr/>
        </p:nvSpPr>
        <p:spPr>
          <a:xfrm>
            <a:off x="803225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61" name="Google Shape;561;p65"/>
          <p:cNvSpPr/>
          <p:nvPr/>
        </p:nvSpPr>
        <p:spPr>
          <a:xfrm>
            <a:off x="3238050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62" name="Google Shape;562;p65"/>
          <p:cNvSpPr/>
          <p:nvPr/>
        </p:nvSpPr>
        <p:spPr>
          <a:xfrm>
            <a:off x="5672875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cxnSp>
        <p:nvCxnSpPr>
          <p:cNvPr id="563" name="Google Shape;563;p65"/>
          <p:cNvCxnSpPr>
            <a:stCxn id="560" idx="1"/>
          </p:cNvCxnSpPr>
          <p:nvPr/>
        </p:nvCxnSpPr>
        <p:spPr>
          <a:xfrm rot="10800000">
            <a:off x="125" y="2571750"/>
            <a:ext cx="8031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65"/>
          <p:cNvCxnSpPr>
            <a:stCxn id="562" idx="3"/>
          </p:cNvCxnSpPr>
          <p:nvPr/>
        </p:nvCxnSpPr>
        <p:spPr>
          <a:xfrm>
            <a:off x="8340775" y="2571750"/>
            <a:ext cx="8031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5" name="Google Shape;565;p6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OBSCURITY</a:t>
            </a:r>
            <a:endParaRPr/>
          </a:p>
        </p:txBody>
      </p:sp>
      <p:sp>
        <p:nvSpPr>
          <p:cNvPr id="566" name="Google Shape;566;p6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</a:t>
            </a:r>
            <a:endParaRPr/>
          </a:p>
        </p:txBody>
      </p:sp>
      <p:sp>
        <p:nvSpPr>
          <p:cNvPr id="567" name="Google Shape;567;p6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LEGACY-TRUST</a:t>
            </a:r>
            <a:endParaRPr/>
          </a:p>
        </p:txBody>
      </p:sp>
      <p:sp>
        <p:nvSpPr>
          <p:cNvPr id="568" name="Google Shape;568;p65"/>
          <p:cNvSpPr txBox="1"/>
          <p:nvPr/>
        </p:nvSpPr>
        <p:spPr>
          <a:xfrm>
            <a:off x="6365425" y="2712256"/>
            <a:ext cx="1282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00K</a:t>
            </a:r>
            <a:endParaRPr sz="3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69" name="Google Shape;569;p65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investment</a:t>
            </a:r>
            <a:endParaRPr/>
          </a:p>
        </p:txBody>
      </p:sp>
      <p:sp>
        <p:nvSpPr>
          <p:cNvPr id="570" name="Google Shape;570;p65"/>
          <p:cNvSpPr txBox="1"/>
          <p:nvPr>
            <p:ph idx="4" type="subTitle"/>
          </p:nvPr>
        </p:nvSpPr>
        <p:spPr>
          <a:xfrm>
            <a:off x="400965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$00</a:t>
            </a:r>
            <a:endParaRPr/>
          </a:p>
        </p:txBody>
      </p:sp>
      <p:sp>
        <p:nvSpPr>
          <p:cNvPr id="571" name="Google Shape;571;p65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note on the results</a:t>
            </a:r>
            <a:endParaRPr/>
          </a:p>
        </p:txBody>
      </p:sp>
      <p:sp>
        <p:nvSpPr>
          <p:cNvPr id="572" name="Google Shape;572;p65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growth</a:t>
            </a:r>
            <a:endParaRPr/>
          </a:p>
        </p:txBody>
      </p:sp>
      <p:sp>
        <p:nvSpPr>
          <p:cNvPr id="573" name="Google Shape;573;p65"/>
          <p:cNvSpPr txBox="1"/>
          <p:nvPr>
            <p:ph idx="7" type="subTitle"/>
          </p:nvPr>
        </p:nvSpPr>
        <p:spPr>
          <a:xfrm>
            <a:off x="157482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574" name="Google Shape;574;p65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note on the results</a:t>
            </a:r>
            <a:endParaRPr/>
          </a:p>
        </p:txBody>
      </p:sp>
      <p:sp>
        <p:nvSpPr>
          <p:cNvPr id="575" name="Google Shape;575;p65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</a:t>
            </a:r>
            <a:endParaRPr/>
          </a:p>
        </p:txBody>
      </p:sp>
      <p:sp>
        <p:nvSpPr>
          <p:cNvPr id="576" name="Google Shape;576;p65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note on the results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6"/>
          <p:cNvSpPr/>
          <p:nvPr/>
        </p:nvSpPr>
        <p:spPr>
          <a:xfrm>
            <a:off x="228600" y="2279529"/>
            <a:ext cx="2085000" cy="22299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82" name="Google Shape;582;p66"/>
          <p:cNvSpPr/>
          <p:nvPr/>
        </p:nvSpPr>
        <p:spPr>
          <a:xfrm>
            <a:off x="2448184" y="2279529"/>
            <a:ext cx="2085000" cy="22299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83" name="Google Shape;583;p66"/>
          <p:cNvSpPr/>
          <p:nvPr/>
        </p:nvSpPr>
        <p:spPr>
          <a:xfrm>
            <a:off x="4639267" y="2279529"/>
            <a:ext cx="2085000" cy="22299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84" name="Google Shape;584;p66"/>
          <p:cNvSpPr/>
          <p:nvPr/>
        </p:nvSpPr>
        <p:spPr>
          <a:xfrm>
            <a:off x="6830350" y="2279529"/>
            <a:ext cx="2085000" cy="2229900"/>
          </a:xfrm>
          <a:prstGeom prst="roundRect">
            <a:avLst>
              <a:gd fmla="val 5265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585" name="Google Shape;585;p6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 MAP</a:t>
            </a:r>
            <a:endParaRPr/>
          </a:p>
        </p:txBody>
      </p:sp>
      <p:sp>
        <p:nvSpPr>
          <p:cNvPr id="586" name="Google Shape;586;p6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LEGACY TRUST</a:t>
            </a:r>
            <a:endParaRPr/>
          </a:p>
        </p:txBody>
      </p:sp>
      <p:sp>
        <p:nvSpPr>
          <p:cNvPr id="587" name="Google Shape;587;p66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HOW DO WE DO IT</a:t>
            </a:r>
            <a:endParaRPr/>
          </a:p>
        </p:txBody>
      </p:sp>
      <p:sp>
        <p:nvSpPr>
          <p:cNvPr id="588" name="Google Shape;588;p66"/>
          <p:cNvSpPr txBox="1"/>
          <p:nvPr>
            <p:ph idx="1" type="subTitle"/>
          </p:nvPr>
        </p:nvSpPr>
        <p:spPr>
          <a:xfrm>
            <a:off x="228600" y="793000"/>
            <a:ext cx="3601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 timeline, some milestones and practical details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66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1</a:t>
            </a:r>
            <a:endParaRPr/>
          </a:p>
        </p:txBody>
      </p:sp>
      <p:sp>
        <p:nvSpPr>
          <p:cNvPr id="590" name="Google Shape;590;p66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591" name="Google Shape;591;p66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how you’ll achieve the strategic plan, step by step.</a:t>
            </a:r>
            <a:endParaRPr/>
          </a:p>
        </p:txBody>
      </p:sp>
      <p:sp>
        <p:nvSpPr>
          <p:cNvPr id="592" name="Google Shape;592;p66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2</a:t>
            </a:r>
            <a:endParaRPr/>
          </a:p>
        </p:txBody>
      </p:sp>
      <p:sp>
        <p:nvSpPr>
          <p:cNvPr id="593" name="Google Shape;593;p66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594" name="Google Shape;594;p66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how you’ll achieve the strategic plan, step by step.</a:t>
            </a:r>
            <a:endParaRPr/>
          </a:p>
        </p:txBody>
      </p:sp>
      <p:sp>
        <p:nvSpPr>
          <p:cNvPr id="595" name="Google Shape;595;p66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3</a:t>
            </a:r>
            <a:endParaRPr/>
          </a:p>
        </p:txBody>
      </p:sp>
      <p:sp>
        <p:nvSpPr>
          <p:cNvPr id="596" name="Google Shape;596;p66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597" name="Google Shape;597;p66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how you’ll achieve the strategic plan, step by step.</a:t>
            </a:r>
            <a:endParaRPr/>
          </a:p>
        </p:txBody>
      </p:sp>
      <p:sp>
        <p:nvSpPr>
          <p:cNvPr id="598" name="Google Shape;598;p66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4</a:t>
            </a:r>
            <a:endParaRPr/>
          </a:p>
        </p:txBody>
      </p:sp>
      <p:sp>
        <p:nvSpPr>
          <p:cNvPr id="599" name="Google Shape;599;p66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600" name="Google Shape;600;p66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as many milestones as you need. Duplicate this slide if necessary.</a:t>
            </a:r>
            <a:endParaRPr/>
          </a:p>
        </p:txBody>
      </p:sp>
      <p:grpSp>
        <p:nvGrpSpPr>
          <p:cNvPr id="601" name="Google Shape;601;p66"/>
          <p:cNvGrpSpPr/>
          <p:nvPr/>
        </p:nvGrpSpPr>
        <p:grpSpPr>
          <a:xfrm>
            <a:off x="1098300" y="1895400"/>
            <a:ext cx="1011600" cy="362700"/>
            <a:chOff x="3556025" y="1833150"/>
            <a:chExt cx="1011600" cy="362700"/>
          </a:xfrm>
        </p:grpSpPr>
        <p:sp>
          <p:nvSpPr>
            <p:cNvPr id="602" name="Google Shape;602;p66"/>
            <p:cNvSpPr/>
            <p:nvPr/>
          </p:nvSpPr>
          <p:spPr>
            <a:xfrm>
              <a:off x="3556025" y="1833150"/>
              <a:ext cx="1011600" cy="2769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Jost"/>
                  <a:ea typeface="Jost"/>
                  <a:cs typeface="Jost"/>
                  <a:sym typeface="Jost"/>
                </a:rPr>
                <a:t>We are here</a:t>
              </a:r>
              <a:endPara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603" name="Google Shape;603;p66"/>
            <p:cNvSpPr/>
            <p:nvPr/>
          </p:nvSpPr>
          <p:spPr>
            <a:xfrm rot="10800000">
              <a:off x="4301625" y="2091150"/>
              <a:ext cx="121200" cy="1047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7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LEGACY-TRUST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A Smart Recovery Portal</a:t>
            </a:r>
            <a:endParaRPr sz="5800"/>
          </a:p>
        </p:txBody>
      </p:sp>
      <p:sp>
        <p:nvSpPr>
          <p:cNvPr id="609" name="Google Shape;609;p67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RECOMMENDATION - FOR EXECUTIVES’ EYES ONLY</a:t>
            </a:r>
            <a:endParaRPr/>
          </a:p>
        </p:txBody>
      </p:sp>
      <p:sp>
        <p:nvSpPr>
          <p:cNvPr id="610" name="Google Shape;610;p67"/>
          <p:cNvSpPr txBox="1"/>
          <p:nvPr>
            <p:ph idx="1" type="subTitle"/>
          </p:nvPr>
        </p:nvSpPr>
        <p:spPr>
          <a:xfrm>
            <a:off x="228225" y="1298200"/>
            <a:ext cx="271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 Koh</a:t>
            </a:r>
            <a:endParaRPr/>
          </a:p>
        </p:txBody>
      </p:sp>
      <p:sp>
        <p:nvSpPr>
          <p:cNvPr id="611" name="Google Shape;611;p67"/>
          <p:cNvSpPr txBox="1"/>
          <p:nvPr>
            <p:ph idx="2" type="subTitle"/>
          </p:nvPr>
        </p:nvSpPr>
        <p:spPr>
          <a:xfrm>
            <a:off x="228225" y="1079450"/>
            <a:ext cx="271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17.04.26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